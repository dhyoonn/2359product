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63" r:id="rId4"/>
    <p:sldId id="308" r:id="rId5"/>
    <p:sldId id="294" r:id="rId6"/>
    <p:sldId id="299" r:id="rId7"/>
    <p:sldId id="300" r:id="rId8"/>
    <p:sldId id="264" r:id="rId9"/>
    <p:sldId id="285" r:id="rId10"/>
    <p:sldId id="303" r:id="rId11"/>
    <p:sldId id="304" r:id="rId12"/>
    <p:sldId id="306" r:id="rId13"/>
    <p:sldId id="307" r:id="rId14"/>
    <p:sldId id="273" r:id="rId15"/>
    <p:sldId id="282" r:id="rId16"/>
    <p:sldId id="30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588" autoAdjust="0"/>
  </p:normalViewPr>
  <p:slideViewPr>
    <p:cSldViewPr snapToGrid="0">
      <p:cViewPr varScale="1">
        <p:scale>
          <a:sx n="100" d="100"/>
          <a:sy n="100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24933-58A3-4DDD-AE00-3898A6BCBF61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64C59-15E8-45E1-8E6F-23529EB531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25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578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전체 유형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원가율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삭제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제품 상세 스펙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최종 샘플의 핵심 스펙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최종 샘플의 </a:t>
            </a:r>
            <a:r>
              <a:rPr lang="ko-KR" altLang="en-US" dirty="0" err="1"/>
              <a:t>전성분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205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전체 유형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원가율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삭제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제품 상세 스펙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최종 샘플의 핵심 스펙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최종 샘플의 </a:t>
            </a:r>
            <a:r>
              <a:rPr lang="ko-KR" altLang="en-US" dirty="0" err="1"/>
              <a:t>전성분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205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전체 유형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원가율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삭제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제품 상세 스펙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최종 샘플의 핵심 스펙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최종 샘플의 </a:t>
            </a:r>
            <a:r>
              <a:rPr lang="ko-KR" altLang="en-US" dirty="0" err="1"/>
              <a:t>전성분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292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선도 제품 카피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선도 제품 </a:t>
            </a:r>
            <a:r>
              <a:rPr lang="en-US" altLang="ko-KR" dirty="0"/>
              <a:t>List –up Top</a:t>
            </a:r>
            <a:r>
              <a:rPr lang="ko-KR" altLang="en-US" dirty="0"/>
              <a:t> </a:t>
            </a:r>
            <a:r>
              <a:rPr lang="en-US" altLang="ko-KR" dirty="0"/>
              <a:t>2~3(Target</a:t>
            </a:r>
            <a:r>
              <a:rPr lang="ko-KR" altLang="en-US" dirty="0"/>
              <a:t> 제외</a:t>
            </a:r>
            <a:r>
              <a:rPr lang="en-US" altLang="ko-KR" dirty="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</a:t>
            </a:r>
            <a:r>
              <a:rPr lang="en-US" altLang="ko-KR" dirty="0"/>
              <a:t>(</a:t>
            </a:r>
            <a:r>
              <a:rPr lang="ko-KR" altLang="en-US" dirty="0"/>
              <a:t>차별화 포인트</a:t>
            </a:r>
            <a:r>
              <a:rPr lang="en-US" altLang="ko-KR" dirty="0"/>
              <a:t>)</a:t>
            </a:r>
            <a:r>
              <a:rPr lang="ko-KR" altLang="en-US" dirty="0"/>
              <a:t>이 없는지 확인 </a:t>
            </a:r>
            <a:r>
              <a:rPr lang="en-US" altLang="ko-KR" dirty="0"/>
              <a:t>-&gt; </a:t>
            </a:r>
            <a:r>
              <a:rPr lang="ko-KR" altLang="en-US" dirty="0"/>
              <a:t>없어야 카피 방식의 당위성이 높아짐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선도 제품 후기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전체 </a:t>
            </a:r>
            <a:r>
              <a:rPr lang="en-US" altLang="ko-KR" dirty="0"/>
              <a:t>&amp; </a:t>
            </a:r>
            <a:r>
              <a:rPr lang="ko-KR" altLang="en-US" dirty="0"/>
              <a:t>최근 한달 후기 수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주요 </a:t>
            </a:r>
            <a:r>
              <a:rPr lang="ko-KR" altLang="en-US" dirty="0" err="1"/>
              <a:t>구매평</a:t>
            </a:r>
            <a:r>
              <a:rPr lang="ko-KR" altLang="en-US" dirty="0"/>
              <a:t> 내용</a:t>
            </a:r>
            <a:endParaRPr lang="en-US" altLang="ko-KR" dirty="0"/>
          </a:p>
          <a:p>
            <a:pPr marL="2057400" lvl="4" indent="-228600">
              <a:buAutoNum type="arabicPeriod"/>
            </a:pPr>
            <a:r>
              <a:rPr lang="ko-KR" altLang="en-US" dirty="0"/>
              <a:t>긍정 </a:t>
            </a:r>
            <a:r>
              <a:rPr lang="en-US" altLang="ko-KR" dirty="0"/>
              <a:t>&amp; </a:t>
            </a:r>
            <a:r>
              <a:rPr lang="ko-KR" altLang="en-US" dirty="0"/>
              <a:t>부정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컨텐츠 예시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기타 특이사항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최근 </a:t>
            </a:r>
            <a:r>
              <a:rPr lang="en-US" altLang="ko-KR" dirty="0"/>
              <a:t>xxx</a:t>
            </a:r>
            <a:r>
              <a:rPr lang="ko-KR" altLang="en-US" dirty="0"/>
              <a:t>에 집중해서 </a:t>
            </a:r>
            <a:r>
              <a:rPr lang="ko-KR" altLang="en-US" dirty="0" err="1"/>
              <a:t>광고한다거나</a:t>
            </a:r>
            <a:r>
              <a:rPr lang="en-US" altLang="ko-KR" dirty="0"/>
              <a:t>, </a:t>
            </a:r>
            <a:r>
              <a:rPr lang="ko-KR" altLang="en-US" dirty="0"/>
              <a:t>리뉴얼을 </a:t>
            </a:r>
            <a:r>
              <a:rPr lang="ko-KR" altLang="en-US" dirty="0" err="1"/>
              <a:t>했다거나</a:t>
            </a:r>
            <a:r>
              <a:rPr lang="en-US" altLang="ko-KR" dirty="0"/>
              <a:t>, </a:t>
            </a:r>
            <a:r>
              <a:rPr lang="ko-KR" altLang="en-US" dirty="0"/>
              <a:t>오프라인 채널에 </a:t>
            </a:r>
            <a:r>
              <a:rPr lang="ko-KR" altLang="en-US" dirty="0" err="1"/>
              <a:t>입점했다거나</a:t>
            </a:r>
            <a:r>
              <a:rPr lang="en-US" altLang="ko-KR" dirty="0"/>
              <a:t>, </a:t>
            </a:r>
            <a:r>
              <a:rPr lang="ko-KR" altLang="en-US" dirty="0"/>
              <a:t>가격을 </a:t>
            </a:r>
            <a:r>
              <a:rPr lang="ko-KR" altLang="en-US" dirty="0" err="1"/>
              <a:t>내렸다거나</a:t>
            </a:r>
            <a:r>
              <a:rPr lang="en-US" altLang="ko-KR" dirty="0"/>
              <a:t>, …</a:t>
            </a:r>
          </a:p>
          <a:p>
            <a:pPr marL="685800" lvl="1" indent="-228600">
              <a:buAutoNum type="arabicPeriod"/>
            </a:pPr>
            <a:r>
              <a:rPr lang="ko-KR" altLang="en-US" dirty="0"/>
              <a:t>경쟁사 구성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전체 시장 구성이 어떻게 되는지</a:t>
            </a:r>
            <a:r>
              <a:rPr lang="en-US" altLang="ko-KR" dirty="0"/>
              <a:t>?</a:t>
            </a:r>
          </a:p>
          <a:p>
            <a:pPr marL="1600200" lvl="3" indent="-228600">
              <a:buAutoNum type="arabicPeriod"/>
            </a:pPr>
            <a:r>
              <a:rPr lang="ko-KR" altLang="en-US" dirty="0"/>
              <a:t>미디어 커머스</a:t>
            </a:r>
            <a:r>
              <a:rPr lang="en-US" altLang="ko-KR" dirty="0"/>
              <a:t>, </a:t>
            </a:r>
            <a:r>
              <a:rPr lang="ko-KR" altLang="en-US" dirty="0"/>
              <a:t>전통 </a:t>
            </a:r>
            <a:r>
              <a:rPr lang="ko-KR" altLang="en-US" dirty="0" err="1"/>
              <a:t>유통사</a:t>
            </a:r>
            <a:r>
              <a:rPr lang="en-US" altLang="ko-KR" dirty="0"/>
              <a:t>, </a:t>
            </a:r>
            <a:r>
              <a:rPr lang="ko-KR" altLang="en-US" dirty="0"/>
              <a:t>상위 노출 전문 </a:t>
            </a:r>
            <a:r>
              <a:rPr lang="en-US" altLang="ko-KR" dirty="0"/>
              <a:t>player, …</a:t>
            </a:r>
          </a:p>
          <a:p>
            <a:pPr marL="1143000" lvl="2" indent="-228600">
              <a:buAutoNum type="arabicPeriod"/>
            </a:pPr>
            <a:r>
              <a:rPr lang="ko-KR" altLang="en-US" dirty="0"/>
              <a:t>진입장벽 존재 여부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en-US" altLang="ko-KR" dirty="0"/>
              <a:t>Ex)</a:t>
            </a:r>
            <a:r>
              <a:rPr lang="ko-KR" altLang="en-US" dirty="0"/>
              <a:t> 규제</a:t>
            </a:r>
            <a:r>
              <a:rPr lang="en-US" altLang="ko-KR" dirty="0"/>
              <a:t>, </a:t>
            </a:r>
            <a:r>
              <a:rPr lang="ko-KR" altLang="en-US" dirty="0"/>
              <a:t>특허 기술 등으로 인해 공급이 제한되고 있는지</a:t>
            </a:r>
            <a:r>
              <a:rPr lang="en-US" altLang="ko-KR" dirty="0"/>
              <a:t>?</a:t>
            </a:r>
          </a:p>
          <a:p>
            <a:pPr marL="228600" lvl="0" indent="-228600">
              <a:buAutoNum type="arabicPeriod"/>
            </a:pPr>
            <a:r>
              <a:rPr lang="en-US" altLang="ko-KR" dirty="0"/>
              <a:t>Mass market </a:t>
            </a:r>
            <a:r>
              <a:rPr lang="ko-KR" altLang="en-US" dirty="0"/>
              <a:t>침투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선도 제품 </a:t>
            </a:r>
            <a:r>
              <a:rPr lang="en-US" altLang="ko-KR" dirty="0"/>
              <a:t>List –up Top</a:t>
            </a:r>
            <a:r>
              <a:rPr lang="ko-KR" altLang="en-US" dirty="0"/>
              <a:t> </a:t>
            </a:r>
            <a:r>
              <a:rPr lang="en-US" altLang="ko-KR" dirty="0"/>
              <a:t>3~4</a:t>
            </a:r>
          </a:p>
          <a:p>
            <a:pPr marL="1143000" lvl="2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</a:t>
            </a:r>
            <a:r>
              <a:rPr lang="en-US" altLang="ko-KR" dirty="0"/>
              <a:t>(</a:t>
            </a:r>
            <a:r>
              <a:rPr lang="ko-KR" altLang="en-US" dirty="0"/>
              <a:t>차별화 포인트</a:t>
            </a:r>
            <a:r>
              <a:rPr lang="en-US" altLang="ko-KR" dirty="0"/>
              <a:t>)</a:t>
            </a:r>
          </a:p>
          <a:p>
            <a:pPr marL="1600200" lvl="3" indent="-228600">
              <a:buAutoNum type="arabicPeriod"/>
            </a:pPr>
            <a:r>
              <a:rPr lang="ko-KR" altLang="en-US" dirty="0"/>
              <a:t>각 선도사들은 어떤 포인트를 차별점으로 가져가는지</a:t>
            </a:r>
            <a:r>
              <a:rPr lang="en-US" altLang="ko-KR" dirty="0"/>
              <a:t>?</a:t>
            </a:r>
          </a:p>
          <a:p>
            <a:pPr marL="1143000" lvl="2" indent="-228600">
              <a:buAutoNum type="arabicPeriod"/>
            </a:pPr>
            <a:r>
              <a:rPr lang="ko-KR" altLang="en-US" dirty="0"/>
              <a:t>선도 제품 후기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전체 </a:t>
            </a:r>
            <a:r>
              <a:rPr lang="en-US" altLang="ko-KR" dirty="0"/>
              <a:t>&amp; </a:t>
            </a:r>
            <a:r>
              <a:rPr lang="ko-KR" altLang="en-US" dirty="0"/>
              <a:t>최근 한달 후기 수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주요 </a:t>
            </a:r>
            <a:r>
              <a:rPr lang="ko-KR" altLang="en-US" dirty="0" err="1"/>
              <a:t>구매평</a:t>
            </a:r>
            <a:r>
              <a:rPr lang="ko-KR" altLang="en-US" dirty="0"/>
              <a:t> 내용</a:t>
            </a:r>
            <a:endParaRPr lang="en-US" altLang="ko-KR" dirty="0"/>
          </a:p>
          <a:p>
            <a:pPr marL="2057400" lvl="4" indent="-228600">
              <a:buAutoNum type="arabicPeriod"/>
            </a:pPr>
            <a:r>
              <a:rPr lang="ko-KR" altLang="en-US" dirty="0"/>
              <a:t>긍정 </a:t>
            </a:r>
            <a:r>
              <a:rPr lang="en-US" altLang="ko-KR" dirty="0"/>
              <a:t>&amp; </a:t>
            </a:r>
            <a:r>
              <a:rPr lang="ko-KR" altLang="en-US" dirty="0"/>
              <a:t>부정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컨텐츠 예시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기타 특이사항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최근 </a:t>
            </a:r>
            <a:r>
              <a:rPr lang="en-US" altLang="ko-KR" dirty="0"/>
              <a:t>xxx</a:t>
            </a:r>
            <a:r>
              <a:rPr lang="ko-KR" altLang="en-US" dirty="0"/>
              <a:t>에 집중해서 </a:t>
            </a:r>
            <a:r>
              <a:rPr lang="ko-KR" altLang="en-US" dirty="0" err="1"/>
              <a:t>광고한다거나</a:t>
            </a:r>
            <a:r>
              <a:rPr lang="en-US" altLang="ko-KR" dirty="0"/>
              <a:t>, </a:t>
            </a:r>
            <a:r>
              <a:rPr lang="ko-KR" altLang="en-US" dirty="0"/>
              <a:t>리뉴얼을 </a:t>
            </a:r>
            <a:r>
              <a:rPr lang="ko-KR" altLang="en-US" dirty="0" err="1"/>
              <a:t>했다거나</a:t>
            </a:r>
            <a:r>
              <a:rPr lang="en-US" altLang="ko-KR" dirty="0"/>
              <a:t>, </a:t>
            </a:r>
            <a:r>
              <a:rPr lang="ko-KR" altLang="en-US" dirty="0"/>
              <a:t>오프라인 채널에 </a:t>
            </a:r>
            <a:r>
              <a:rPr lang="ko-KR" altLang="en-US" dirty="0" err="1"/>
              <a:t>입점했다거나</a:t>
            </a:r>
            <a:r>
              <a:rPr lang="en-US" altLang="ko-KR" dirty="0"/>
              <a:t>, </a:t>
            </a:r>
            <a:r>
              <a:rPr lang="ko-KR" altLang="en-US" dirty="0"/>
              <a:t>가격을 </a:t>
            </a:r>
            <a:r>
              <a:rPr lang="ko-KR" altLang="en-US" dirty="0" err="1"/>
              <a:t>내렸다거나</a:t>
            </a:r>
            <a:r>
              <a:rPr lang="en-US" altLang="ko-KR" dirty="0"/>
              <a:t>, …</a:t>
            </a:r>
          </a:p>
          <a:p>
            <a:pPr marL="685800" lvl="1" indent="-228600">
              <a:buAutoNum type="arabicPeriod"/>
            </a:pPr>
            <a:r>
              <a:rPr lang="ko-KR" altLang="en-US" dirty="0"/>
              <a:t>경쟁사 구성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전체 시장 구성이 어떻게 되는지</a:t>
            </a:r>
            <a:r>
              <a:rPr lang="en-US" altLang="ko-KR" dirty="0"/>
              <a:t>?</a:t>
            </a:r>
          </a:p>
          <a:p>
            <a:pPr marL="1600200" lvl="3" indent="-228600">
              <a:buAutoNum type="arabicPeriod"/>
            </a:pPr>
            <a:r>
              <a:rPr lang="ko-KR" altLang="en-US" dirty="0"/>
              <a:t>미디어 커머스</a:t>
            </a:r>
            <a:r>
              <a:rPr lang="en-US" altLang="ko-KR" dirty="0"/>
              <a:t>, </a:t>
            </a:r>
            <a:r>
              <a:rPr lang="ko-KR" altLang="en-US" dirty="0"/>
              <a:t>전통 </a:t>
            </a:r>
            <a:r>
              <a:rPr lang="ko-KR" altLang="en-US" dirty="0" err="1"/>
              <a:t>유통사</a:t>
            </a:r>
            <a:r>
              <a:rPr lang="en-US" altLang="ko-KR" dirty="0"/>
              <a:t>, </a:t>
            </a:r>
            <a:r>
              <a:rPr lang="ko-KR" altLang="en-US" dirty="0"/>
              <a:t>상위 노출 전문 </a:t>
            </a:r>
            <a:r>
              <a:rPr lang="en-US" altLang="ko-KR" dirty="0"/>
              <a:t>player, …</a:t>
            </a:r>
          </a:p>
          <a:p>
            <a:pPr marL="1143000" lvl="2" indent="-228600">
              <a:buAutoNum type="arabicPeriod"/>
            </a:pPr>
            <a:r>
              <a:rPr lang="ko-KR" altLang="en-US" dirty="0"/>
              <a:t>진입장벽 존재 여부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en-US" altLang="ko-KR" dirty="0"/>
              <a:t>Ex)</a:t>
            </a:r>
            <a:r>
              <a:rPr lang="ko-KR" altLang="en-US" dirty="0"/>
              <a:t> 규제</a:t>
            </a:r>
            <a:r>
              <a:rPr lang="en-US" altLang="ko-KR" dirty="0"/>
              <a:t>, </a:t>
            </a:r>
            <a:r>
              <a:rPr lang="ko-KR" altLang="en-US" dirty="0"/>
              <a:t>특허 기술 등으로 인해 공급이 제한되고 있는지</a:t>
            </a:r>
            <a:r>
              <a:rPr lang="en-US" altLang="ko-KR" dirty="0"/>
              <a:t>?</a:t>
            </a:r>
          </a:p>
          <a:p>
            <a:pPr marL="228600" lvl="0" indent="-228600">
              <a:buAutoNum type="arabicPeriod"/>
            </a:pPr>
            <a:r>
              <a:rPr lang="ko-KR" altLang="en-US" dirty="0"/>
              <a:t>문제 해결</a:t>
            </a:r>
            <a:r>
              <a:rPr lang="en-US" altLang="ko-KR" dirty="0"/>
              <a:t>/ Idea/</a:t>
            </a:r>
            <a:r>
              <a:rPr lang="ko-KR" altLang="en-US" dirty="0"/>
              <a:t>애매한 구매기준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유사 제품 </a:t>
            </a:r>
            <a:r>
              <a:rPr lang="en-US" altLang="ko-KR" dirty="0"/>
              <a:t>List –up</a:t>
            </a:r>
            <a:r>
              <a:rPr lang="ko-KR" altLang="en-US" dirty="0"/>
              <a:t> </a:t>
            </a:r>
            <a:r>
              <a:rPr lang="en-US" altLang="ko-KR" dirty="0"/>
              <a:t>1~2 -&gt;</a:t>
            </a:r>
            <a:r>
              <a:rPr lang="ko-KR" altLang="en-US" dirty="0"/>
              <a:t>이종 제품군에서 비슷한 방식으로 문제 해결</a:t>
            </a:r>
            <a:r>
              <a:rPr lang="en-US" altLang="ko-KR" dirty="0"/>
              <a:t>/Idea </a:t>
            </a:r>
            <a:r>
              <a:rPr lang="ko-KR" altLang="en-US" dirty="0"/>
              <a:t>도출</a:t>
            </a:r>
            <a:r>
              <a:rPr lang="en-US" altLang="ko-KR" dirty="0"/>
              <a:t>/</a:t>
            </a:r>
            <a:r>
              <a:rPr lang="ko-KR" altLang="en-US" dirty="0"/>
              <a:t>구매기준 제시 했던 사례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</a:t>
            </a:r>
            <a:r>
              <a:rPr lang="en-US" altLang="ko-KR" dirty="0"/>
              <a:t>(</a:t>
            </a:r>
            <a:r>
              <a:rPr lang="ko-KR" altLang="en-US" dirty="0"/>
              <a:t>차별화 포인트</a:t>
            </a:r>
            <a:r>
              <a:rPr lang="en-US" altLang="ko-KR" dirty="0"/>
              <a:t>)</a:t>
            </a:r>
          </a:p>
          <a:p>
            <a:pPr marL="1600200" lvl="3" indent="-228600">
              <a:buAutoNum type="arabicPeriod"/>
            </a:pPr>
            <a:r>
              <a:rPr lang="ko-KR" altLang="en-US" dirty="0"/>
              <a:t>각 선도사들은 어떻게 차별화 포인트를 풀어냈는지</a:t>
            </a:r>
            <a:r>
              <a:rPr lang="en-US" altLang="ko-KR" dirty="0"/>
              <a:t>?</a:t>
            </a:r>
          </a:p>
          <a:p>
            <a:pPr marL="1143000" lvl="2" indent="-228600">
              <a:buAutoNum type="arabicPeriod"/>
            </a:pPr>
            <a:r>
              <a:rPr lang="ko-KR" altLang="en-US" dirty="0"/>
              <a:t>선도 제품 후기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전체 </a:t>
            </a:r>
            <a:r>
              <a:rPr lang="en-US" altLang="ko-KR" dirty="0"/>
              <a:t>&amp; </a:t>
            </a:r>
            <a:r>
              <a:rPr lang="ko-KR" altLang="en-US" dirty="0"/>
              <a:t>최근 한달 후기 수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주요 </a:t>
            </a:r>
            <a:r>
              <a:rPr lang="ko-KR" altLang="en-US" dirty="0" err="1"/>
              <a:t>구매평</a:t>
            </a:r>
            <a:r>
              <a:rPr lang="ko-KR" altLang="en-US" dirty="0"/>
              <a:t> 내용</a:t>
            </a:r>
            <a:endParaRPr lang="en-US" altLang="ko-KR" dirty="0"/>
          </a:p>
          <a:p>
            <a:pPr marL="2057400" lvl="4" indent="-228600">
              <a:buAutoNum type="arabicPeriod"/>
            </a:pPr>
            <a:r>
              <a:rPr lang="ko-KR" altLang="en-US" dirty="0"/>
              <a:t>긍정 </a:t>
            </a:r>
            <a:r>
              <a:rPr lang="en-US" altLang="ko-KR" dirty="0"/>
              <a:t>&amp; </a:t>
            </a:r>
            <a:r>
              <a:rPr lang="ko-KR" altLang="en-US" dirty="0"/>
              <a:t>부정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컨텐츠 예시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기타 특이사항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최근 </a:t>
            </a:r>
            <a:r>
              <a:rPr lang="en-US" altLang="ko-KR" dirty="0"/>
              <a:t>xxx</a:t>
            </a:r>
            <a:r>
              <a:rPr lang="ko-KR" altLang="en-US" dirty="0"/>
              <a:t>에 집중해서 </a:t>
            </a:r>
            <a:r>
              <a:rPr lang="ko-KR" altLang="en-US" dirty="0" err="1"/>
              <a:t>광고한다거나</a:t>
            </a:r>
            <a:r>
              <a:rPr lang="en-US" altLang="ko-KR" dirty="0"/>
              <a:t>, </a:t>
            </a:r>
            <a:r>
              <a:rPr lang="ko-KR" altLang="en-US" dirty="0"/>
              <a:t>리뉴얼을 </a:t>
            </a:r>
            <a:r>
              <a:rPr lang="ko-KR" altLang="en-US" dirty="0" err="1"/>
              <a:t>했다거나</a:t>
            </a:r>
            <a:r>
              <a:rPr lang="en-US" altLang="ko-KR" dirty="0"/>
              <a:t>, </a:t>
            </a:r>
            <a:r>
              <a:rPr lang="ko-KR" altLang="en-US" dirty="0"/>
              <a:t>오프라인 채널에 </a:t>
            </a:r>
            <a:r>
              <a:rPr lang="ko-KR" altLang="en-US" dirty="0" err="1"/>
              <a:t>입점했다거나</a:t>
            </a:r>
            <a:r>
              <a:rPr lang="en-US" altLang="ko-KR" dirty="0"/>
              <a:t>, </a:t>
            </a:r>
            <a:r>
              <a:rPr lang="ko-KR" altLang="en-US" dirty="0"/>
              <a:t>가격을 </a:t>
            </a:r>
            <a:r>
              <a:rPr lang="ko-KR" altLang="en-US" dirty="0" err="1"/>
              <a:t>내렸다거나</a:t>
            </a:r>
            <a:r>
              <a:rPr lang="en-US" altLang="ko-KR" dirty="0"/>
              <a:t>, …</a:t>
            </a:r>
          </a:p>
          <a:p>
            <a:pPr marL="685800" lvl="1" indent="-228600">
              <a:buAutoNum type="arabicPeriod"/>
            </a:pPr>
            <a:r>
              <a:rPr lang="ko-KR" altLang="en-US" dirty="0"/>
              <a:t>경쟁사 구성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전체 시장 구성이 어떻게 되는지</a:t>
            </a:r>
            <a:r>
              <a:rPr lang="en-US" altLang="ko-KR" dirty="0"/>
              <a:t>?</a:t>
            </a:r>
          </a:p>
          <a:p>
            <a:pPr marL="1600200" lvl="3" indent="-228600">
              <a:buAutoNum type="arabicPeriod"/>
            </a:pPr>
            <a:r>
              <a:rPr lang="ko-KR" altLang="en-US" dirty="0"/>
              <a:t>미디어 커머스</a:t>
            </a:r>
            <a:r>
              <a:rPr lang="en-US" altLang="ko-KR" dirty="0"/>
              <a:t>, </a:t>
            </a:r>
            <a:r>
              <a:rPr lang="ko-KR" altLang="en-US" dirty="0"/>
              <a:t>전통 </a:t>
            </a:r>
            <a:r>
              <a:rPr lang="ko-KR" altLang="en-US" dirty="0" err="1"/>
              <a:t>유통사</a:t>
            </a:r>
            <a:r>
              <a:rPr lang="en-US" altLang="ko-KR" dirty="0"/>
              <a:t>, </a:t>
            </a:r>
            <a:r>
              <a:rPr lang="ko-KR" altLang="en-US" dirty="0"/>
              <a:t>상위 노출 전문 </a:t>
            </a:r>
            <a:r>
              <a:rPr lang="en-US" altLang="ko-KR" dirty="0"/>
              <a:t>player, …</a:t>
            </a:r>
          </a:p>
          <a:p>
            <a:pPr marL="1143000" lvl="2" indent="-228600">
              <a:buAutoNum type="arabicPeriod"/>
            </a:pPr>
            <a:r>
              <a:rPr lang="ko-KR" altLang="en-US" dirty="0"/>
              <a:t>진입장벽 존재 여부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en-US" altLang="ko-KR" dirty="0"/>
              <a:t>Ex)</a:t>
            </a:r>
            <a:r>
              <a:rPr lang="ko-KR" altLang="en-US" dirty="0"/>
              <a:t> 규제</a:t>
            </a:r>
            <a:r>
              <a:rPr lang="en-US" altLang="ko-KR" dirty="0"/>
              <a:t>, </a:t>
            </a:r>
            <a:r>
              <a:rPr lang="ko-KR" altLang="en-US" dirty="0"/>
              <a:t>특허 기술 등으로 인해 공급이 제한되고 있는지</a:t>
            </a:r>
            <a:r>
              <a:rPr lang="en-US" altLang="ko-KR" dirty="0"/>
              <a:t>?</a:t>
            </a:r>
          </a:p>
          <a:p>
            <a:pPr marL="685800" lvl="1" indent="-228600">
              <a:buAutoNum type="arabicPeriod"/>
            </a:pPr>
            <a:endParaRPr lang="en-US" altLang="ko-KR" dirty="0"/>
          </a:p>
          <a:p>
            <a:pPr marL="228600" lvl="0" indent="-228600">
              <a:buAutoNum type="arabicPeriod"/>
            </a:pPr>
            <a:endParaRPr lang="en-US" altLang="ko-KR" dirty="0"/>
          </a:p>
          <a:p>
            <a:pPr marL="1143000" lvl="2" indent="-228600">
              <a:buAutoNum type="arabicPeriod"/>
            </a:pPr>
            <a:endParaRPr lang="en-US" altLang="ko-KR" dirty="0"/>
          </a:p>
          <a:p>
            <a:pPr marL="685800" lvl="1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144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기획 의도</a:t>
            </a:r>
            <a:r>
              <a:rPr lang="en-US" altLang="ko-KR" dirty="0"/>
              <a:t>(</a:t>
            </a:r>
            <a:r>
              <a:rPr lang="ko-KR" altLang="en-US" dirty="0"/>
              <a:t>배경</a:t>
            </a:r>
            <a:r>
              <a:rPr lang="en-US" altLang="ko-KR" dirty="0"/>
              <a:t>)</a:t>
            </a:r>
            <a:r>
              <a:rPr lang="ko-KR" altLang="en-US" dirty="0"/>
              <a:t>에는 왜 이 제품을 상기 기획방식으로 진행하게 되었는지 간단하게 요약하여</a:t>
            </a:r>
            <a:r>
              <a:rPr lang="en-US" altLang="ko-KR" dirty="0"/>
              <a:t>(</a:t>
            </a:r>
            <a:r>
              <a:rPr lang="ko-KR" altLang="en-US" dirty="0"/>
              <a:t>넘버링</a:t>
            </a:r>
            <a:r>
              <a:rPr lang="en-US" altLang="ko-KR" dirty="0"/>
              <a:t>)</a:t>
            </a:r>
            <a:r>
              <a:rPr lang="ko-KR" altLang="en-US" dirty="0"/>
              <a:t> 기재 </a:t>
            </a:r>
            <a:r>
              <a:rPr lang="en-US" altLang="ko-KR" dirty="0"/>
              <a:t>-&gt; </a:t>
            </a:r>
            <a:r>
              <a:rPr lang="ko-KR" altLang="en-US" dirty="0"/>
              <a:t>상세 설명은 뒤에서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863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전체 유형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제품의 핵심 </a:t>
            </a:r>
            <a:r>
              <a:rPr lang="ko-KR" altLang="en-US" dirty="0" err="1"/>
              <a:t>소구점을</a:t>
            </a:r>
            <a:r>
              <a:rPr lang="ko-KR" altLang="en-US" dirty="0"/>
              <a:t> 풀어서 설명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제품의 시장성에서 이미 다뤄졌던 내용이 충분히 부가 설명 될 수 있도록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각 유형별로 핵심적으로 설명되어야 하는 관점이 다름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구현의 가능성이 </a:t>
            </a:r>
            <a:r>
              <a:rPr lang="en-US" altLang="ko-KR" dirty="0"/>
              <a:t>100%</a:t>
            </a:r>
            <a:r>
              <a:rPr lang="ko-KR" altLang="en-US" dirty="0"/>
              <a:t>가 아니어도 기재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각 </a:t>
            </a:r>
            <a:r>
              <a:rPr lang="ko-KR" altLang="en-US" dirty="0" err="1"/>
              <a:t>소구점이</a:t>
            </a:r>
            <a:r>
              <a:rPr lang="ko-KR" altLang="en-US" dirty="0"/>
              <a:t> 서로 인과성이 있거나</a:t>
            </a:r>
            <a:r>
              <a:rPr lang="en-US" altLang="ko-KR" dirty="0"/>
              <a:t>, </a:t>
            </a:r>
            <a:r>
              <a:rPr lang="ko-KR" altLang="en-US" dirty="0"/>
              <a:t>종속되지 않도록 독립적인 포인트로 구성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en-US" altLang="ko-KR" dirty="0"/>
              <a:t>Ex) 1. xxx </a:t>
            </a:r>
            <a:r>
              <a:rPr lang="ko-KR" altLang="en-US" dirty="0"/>
              <a:t>성분으로 인한 피부 케어 효과</a:t>
            </a:r>
            <a:r>
              <a:rPr lang="en-US" altLang="ko-KR" dirty="0"/>
              <a:t>, 2. </a:t>
            </a:r>
            <a:r>
              <a:rPr lang="ko-KR" altLang="en-US" dirty="0" err="1"/>
              <a:t>피부결</a:t>
            </a:r>
            <a:r>
              <a:rPr lang="ko-KR" altLang="en-US" dirty="0"/>
              <a:t> 개선 효과 </a:t>
            </a:r>
            <a:r>
              <a:rPr lang="en-US" altLang="ko-KR" dirty="0"/>
              <a:t>-&gt; 1</a:t>
            </a:r>
            <a:r>
              <a:rPr lang="ko-KR" altLang="en-US" dirty="0"/>
              <a:t>의 내용안에 </a:t>
            </a:r>
            <a:r>
              <a:rPr lang="en-US" altLang="ko-KR" dirty="0"/>
              <a:t>2</a:t>
            </a:r>
            <a:r>
              <a:rPr lang="ko-KR" altLang="en-US" dirty="0"/>
              <a:t>의 내용 포함 </a:t>
            </a:r>
            <a:r>
              <a:rPr lang="en-US" altLang="ko-KR" dirty="0"/>
              <a:t>=&gt; </a:t>
            </a:r>
            <a:r>
              <a:rPr lang="ko-KR" altLang="en-US" dirty="0"/>
              <a:t>잘못된 예시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소구점은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개 이상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</a:t>
            </a:r>
            <a:r>
              <a:rPr lang="ko-KR" altLang="en-US" dirty="0"/>
              <a:t> 외에 </a:t>
            </a:r>
            <a:r>
              <a:rPr lang="en-US" altLang="ko-KR" dirty="0"/>
              <a:t>Sub </a:t>
            </a:r>
            <a:r>
              <a:rPr lang="ko-KR" altLang="en-US" dirty="0" err="1"/>
              <a:t>소구점의</a:t>
            </a:r>
            <a:r>
              <a:rPr lang="ko-KR" altLang="en-US" dirty="0"/>
              <a:t> 경우 가기획안 단계부터 포함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그 이후 샘플링을 진행하면서 핵심 </a:t>
            </a:r>
            <a:r>
              <a:rPr lang="ko-KR" altLang="en-US" dirty="0" err="1"/>
              <a:t>소구점</a:t>
            </a:r>
            <a:r>
              <a:rPr lang="ko-KR" altLang="en-US" dirty="0"/>
              <a:t> 및 </a:t>
            </a:r>
            <a:r>
              <a:rPr lang="en-US" altLang="ko-KR" dirty="0"/>
              <a:t>Sub</a:t>
            </a:r>
            <a:r>
              <a:rPr lang="ko-KR" altLang="en-US" dirty="0"/>
              <a:t> </a:t>
            </a:r>
            <a:r>
              <a:rPr lang="ko-KR" altLang="en-US" dirty="0" err="1"/>
              <a:t>소구점</a:t>
            </a:r>
            <a:r>
              <a:rPr lang="ko-KR" altLang="en-US" dirty="0"/>
              <a:t> 지속 수정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469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전체 유형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제품의 핵심 </a:t>
            </a:r>
            <a:r>
              <a:rPr lang="ko-KR" altLang="en-US" dirty="0" err="1"/>
              <a:t>소구점을</a:t>
            </a:r>
            <a:r>
              <a:rPr lang="ko-KR" altLang="en-US" dirty="0"/>
              <a:t> 풀어서 설명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제품의 시장성에서 이미 다뤄졌던 내용이 충분히 부가 설명 될 수 있도록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각 유형별로 핵심적으로 설명되어야 하는 관점이 다름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구현의 가능성이 </a:t>
            </a:r>
            <a:r>
              <a:rPr lang="en-US" altLang="ko-KR" dirty="0"/>
              <a:t>100%</a:t>
            </a:r>
            <a:r>
              <a:rPr lang="ko-KR" altLang="en-US" dirty="0"/>
              <a:t>가 아니어도 기재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각 </a:t>
            </a:r>
            <a:r>
              <a:rPr lang="ko-KR" altLang="en-US" dirty="0" err="1"/>
              <a:t>소구점이</a:t>
            </a:r>
            <a:r>
              <a:rPr lang="ko-KR" altLang="en-US" dirty="0"/>
              <a:t> 서로 인과성이 있거나</a:t>
            </a:r>
            <a:r>
              <a:rPr lang="en-US" altLang="ko-KR" dirty="0"/>
              <a:t>, </a:t>
            </a:r>
            <a:r>
              <a:rPr lang="ko-KR" altLang="en-US" dirty="0"/>
              <a:t>종속되지 않도록 독립적인 포인트로 구성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en-US" altLang="ko-KR" dirty="0"/>
              <a:t>Ex) 1. xxx </a:t>
            </a:r>
            <a:r>
              <a:rPr lang="ko-KR" altLang="en-US" dirty="0"/>
              <a:t>성분으로 인한 피부 케어 효과</a:t>
            </a:r>
            <a:r>
              <a:rPr lang="en-US" altLang="ko-KR" dirty="0"/>
              <a:t>, 2. </a:t>
            </a:r>
            <a:r>
              <a:rPr lang="ko-KR" altLang="en-US" dirty="0" err="1"/>
              <a:t>피부결</a:t>
            </a:r>
            <a:r>
              <a:rPr lang="ko-KR" altLang="en-US" dirty="0"/>
              <a:t> 개선 효과 </a:t>
            </a:r>
            <a:r>
              <a:rPr lang="en-US" altLang="ko-KR" dirty="0"/>
              <a:t>-&gt; 1</a:t>
            </a:r>
            <a:r>
              <a:rPr lang="ko-KR" altLang="en-US" dirty="0"/>
              <a:t>의 내용안에 </a:t>
            </a:r>
            <a:r>
              <a:rPr lang="en-US" altLang="ko-KR" dirty="0"/>
              <a:t>2</a:t>
            </a:r>
            <a:r>
              <a:rPr lang="ko-KR" altLang="en-US" dirty="0"/>
              <a:t>의 내용 포함 </a:t>
            </a:r>
            <a:r>
              <a:rPr lang="en-US" altLang="ko-KR" dirty="0"/>
              <a:t>=&gt; </a:t>
            </a:r>
            <a:r>
              <a:rPr lang="ko-KR" altLang="en-US" dirty="0"/>
              <a:t>잘못된 예시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소구점은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개 이상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</a:t>
            </a:r>
            <a:r>
              <a:rPr lang="ko-KR" altLang="en-US" dirty="0"/>
              <a:t> 외에 </a:t>
            </a:r>
            <a:r>
              <a:rPr lang="en-US" altLang="ko-KR" dirty="0"/>
              <a:t>Sub </a:t>
            </a:r>
            <a:r>
              <a:rPr lang="ko-KR" altLang="en-US" dirty="0" err="1"/>
              <a:t>소구점의</a:t>
            </a:r>
            <a:r>
              <a:rPr lang="ko-KR" altLang="en-US" dirty="0"/>
              <a:t> 경우 가기획안 단계부터 포함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그 이후 샘플링을 진행하면서 핵심 </a:t>
            </a:r>
            <a:r>
              <a:rPr lang="ko-KR" altLang="en-US" dirty="0" err="1"/>
              <a:t>소구점</a:t>
            </a:r>
            <a:r>
              <a:rPr lang="ko-KR" altLang="en-US" dirty="0"/>
              <a:t> 및 </a:t>
            </a:r>
            <a:r>
              <a:rPr lang="en-US" altLang="ko-KR" dirty="0"/>
              <a:t>Sub</a:t>
            </a:r>
            <a:r>
              <a:rPr lang="ko-KR" altLang="en-US" dirty="0"/>
              <a:t> </a:t>
            </a:r>
            <a:r>
              <a:rPr lang="ko-KR" altLang="en-US" dirty="0" err="1"/>
              <a:t>소구점</a:t>
            </a:r>
            <a:r>
              <a:rPr lang="ko-KR" altLang="en-US" dirty="0"/>
              <a:t> 지속 수정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303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전체 유형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제품의 핵심 </a:t>
            </a:r>
            <a:r>
              <a:rPr lang="ko-KR" altLang="en-US" dirty="0" err="1"/>
              <a:t>소구점을</a:t>
            </a:r>
            <a:r>
              <a:rPr lang="ko-KR" altLang="en-US" dirty="0"/>
              <a:t> 풀어서 설명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제품의 시장성에서 이미 다뤄졌던 내용이 충분히 부가 설명 될 수 있도록</a:t>
            </a:r>
            <a:endParaRPr lang="en-US" altLang="ko-KR" dirty="0"/>
          </a:p>
          <a:p>
            <a:pPr marL="1600200" lvl="3" indent="-228600">
              <a:buAutoNum type="arabicPeriod"/>
            </a:pPr>
            <a:r>
              <a:rPr lang="ko-KR" altLang="en-US" dirty="0"/>
              <a:t>각 유형별로 핵심적으로 설명되어야 하는 관점이 다름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구현의 가능성이 </a:t>
            </a:r>
            <a:r>
              <a:rPr lang="en-US" altLang="ko-KR" dirty="0"/>
              <a:t>100%</a:t>
            </a:r>
            <a:r>
              <a:rPr lang="ko-KR" altLang="en-US" dirty="0"/>
              <a:t>가 아니어도 기재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각 </a:t>
            </a:r>
            <a:r>
              <a:rPr lang="ko-KR" altLang="en-US" dirty="0" err="1"/>
              <a:t>소구점이</a:t>
            </a:r>
            <a:r>
              <a:rPr lang="ko-KR" altLang="en-US" dirty="0"/>
              <a:t> 서로 인과성이 있거나</a:t>
            </a:r>
            <a:r>
              <a:rPr lang="en-US" altLang="ko-KR" dirty="0"/>
              <a:t>, </a:t>
            </a:r>
            <a:r>
              <a:rPr lang="ko-KR" altLang="en-US" dirty="0"/>
              <a:t>종속되지 않도록 독립적인 포인트로 구성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en-US" altLang="ko-KR" dirty="0"/>
              <a:t>Ex) 1. xxx </a:t>
            </a:r>
            <a:r>
              <a:rPr lang="ko-KR" altLang="en-US" dirty="0"/>
              <a:t>성분으로 인한 피부 케어 효과</a:t>
            </a:r>
            <a:r>
              <a:rPr lang="en-US" altLang="ko-KR" dirty="0"/>
              <a:t>, 2. </a:t>
            </a:r>
            <a:r>
              <a:rPr lang="ko-KR" altLang="en-US" dirty="0" err="1"/>
              <a:t>피부결</a:t>
            </a:r>
            <a:r>
              <a:rPr lang="ko-KR" altLang="en-US" dirty="0"/>
              <a:t> 개선 효과 </a:t>
            </a:r>
            <a:r>
              <a:rPr lang="en-US" altLang="ko-KR" dirty="0"/>
              <a:t>-&gt; 1</a:t>
            </a:r>
            <a:r>
              <a:rPr lang="ko-KR" altLang="en-US" dirty="0"/>
              <a:t>의 내용안에 </a:t>
            </a:r>
            <a:r>
              <a:rPr lang="en-US" altLang="ko-KR" dirty="0"/>
              <a:t>2</a:t>
            </a:r>
            <a:r>
              <a:rPr lang="ko-KR" altLang="en-US" dirty="0"/>
              <a:t>의 내용 포함 </a:t>
            </a:r>
            <a:r>
              <a:rPr lang="en-US" altLang="ko-KR" dirty="0"/>
              <a:t>=&gt; </a:t>
            </a:r>
            <a:r>
              <a:rPr lang="ko-KR" altLang="en-US" dirty="0"/>
              <a:t>잘못된 예시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소구점은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개 이상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핵심 </a:t>
            </a:r>
            <a:r>
              <a:rPr lang="ko-KR" altLang="en-US" dirty="0" err="1"/>
              <a:t>소구점</a:t>
            </a:r>
            <a:r>
              <a:rPr lang="ko-KR" altLang="en-US" dirty="0"/>
              <a:t> 외에 </a:t>
            </a:r>
            <a:r>
              <a:rPr lang="en-US" altLang="ko-KR" dirty="0"/>
              <a:t>Sub </a:t>
            </a:r>
            <a:r>
              <a:rPr lang="ko-KR" altLang="en-US" dirty="0" err="1"/>
              <a:t>소구점의</a:t>
            </a:r>
            <a:r>
              <a:rPr lang="ko-KR" altLang="en-US" dirty="0"/>
              <a:t> 경우 가기획안 단계부터 포함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그 이후 샘플링을 진행하면서 핵심 </a:t>
            </a:r>
            <a:r>
              <a:rPr lang="ko-KR" altLang="en-US" dirty="0" err="1"/>
              <a:t>소구점</a:t>
            </a:r>
            <a:r>
              <a:rPr lang="ko-KR" altLang="en-US" dirty="0"/>
              <a:t> 및 </a:t>
            </a:r>
            <a:r>
              <a:rPr lang="en-US" altLang="ko-KR" dirty="0"/>
              <a:t>Sub</a:t>
            </a:r>
            <a:r>
              <a:rPr lang="ko-KR" altLang="en-US" dirty="0"/>
              <a:t> </a:t>
            </a:r>
            <a:r>
              <a:rPr lang="ko-KR" altLang="en-US" dirty="0" err="1"/>
              <a:t>소구점</a:t>
            </a:r>
            <a:r>
              <a:rPr lang="ko-KR" altLang="en-US" dirty="0"/>
              <a:t> 지속 수정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12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전체 유형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1</a:t>
            </a:r>
            <a:r>
              <a:rPr lang="ko-KR" altLang="en-US" dirty="0"/>
              <a:t>차 샘플을 구체적으로 요청하기 전</a:t>
            </a:r>
            <a:r>
              <a:rPr lang="en-US" altLang="ko-KR" dirty="0"/>
              <a:t>, Sub</a:t>
            </a:r>
            <a:r>
              <a:rPr lang="ko-KR" altLang="en-US" dirty="0"/>
              <a:t> </a:t>
            </a:r>
            <a:r>
              <a:rPr lang="ko-KR" altLang="en-US" dirty="0" err="1"/>
              <a:t>소구점은</a:t>
            </a:r>
            <a:r>
              <a:rPr lang="ko-KR" altLang="en-US" dirty="0"/>
              <a:t> 어떻게 가져갈지 확정 필요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컨셉 성분</a:t>
            </a:r>
            <a:r>
              <a:rPr lang="en-US" altLang="ko-KR" dirty="0"/>
              <a:t>, </a:t>
            </a:r>
            <a:r>
              <a:rPr lang="ko-KR" altLang="en-US" dirty="0"/>
              <a:t>용기</a:t>
            </a:r>
            <a:r>
              <a:rPr lang="en-US" altLang="ko-KR" dirty="0"/>
              <a:t>, </a:t>
            </a:r>
            <a:r>
              <a:rPr lang="ko-KR" altLang="en-US" dirty="0"/>
              <a:t>용량 등 핵심적이지 않은 모든 </a:t>
            </a:r>
            <a:r>
              <a:rPr lang="ko-KR" altLang="en-US" dirty="0" err="1"/>
              <a:t>소구점에</a:t>
            </a:r>
            <a:r>
              <a:rPr lang="ko-KR" altLang="en-US" dirty="0"/>
              <a:t> 대해서 구현 가능성과 별개로 구상 필요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411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전체 유형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3</a:t>
            </a:r>
            <a:r>
              <a:rPr lang="ko-KR" altLang="en-US" dirty="0"/>
              <a:t>개 이상 제시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Facebook/Instagram </a:t>
            </a:r>
            <a:r>
              <a:rPr lang="ko-KR" altLang="en-US" dirty="0"/>
              <a:t>에서 게시되는 컨텐츠를 우선 포함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다양한 채널에서의 컨텐츠 포함 지향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64C59-15E8-45E1-8E6F-23529EB5313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28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53C7C-6540-4850-93F8-D4589599E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64E56C-2736-4E6A-8B3E-E961F3759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E0BA2-887E-4FC9-A884-CD93511F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C3632-C92E-49BE-9058-03A1B86F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05A09C-AC59-457A-9881-3CC40AF3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07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EE698-1C9F-4137-82C2-27FBDB3A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30F06-C93B-4B94-9DAD-C200AC8D1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44E0C9-CB24-4620-8325-0AC87F8C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466EF2-2894-493B-AF80-84B61ED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55BD8-A10B-4E32-A8CA-B96FDE3C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22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E959D-952F-4810-AED1-6F94F5E98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613AD-EA8F-4D33-A9C2-4A629D1A0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3EB6CB-B18D-4D15-892A-A49B8383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2E54C4-2605-4400-9362-EC364B8E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2C907B-4D4E-4E22-B04C-DD4A1056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37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4C4F1-E64F-4CAD-B4FD-FBC7C6E6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34DE2B-281E-4137-B24C-D06B05F6C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7E2BDA-4ACB-4710-9FA7-E1B8440FE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C9C2CC-AA05-44AB-BE36-AB7BD0D54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1D1542-F29B-403C-809C-3F44F13B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0E726-E37F-4AD3-9348-1D8C3444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03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9E1ED-BD7D-4C86-8663-F58B83D8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7D0277-6BEC-498C-AE79-4962BFB84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9EB313-34CA-4329-9DD3-C0A22ACAB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13CF15-2EC3-4CEE-BD3E-26398010A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BFBF9E-736D-4A32-AEB0-44971CACE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F7E94B-BC14-408E-B4A7-C4E9AF41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BF25CE-DCD6-42EF-8BD5-FF02C34A7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1742D9-5F61-4F99-B599-0A68E265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49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71E10-52B7-455A-BDF3-AB96DAEF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0BD246-C3C0-4C31-A8B3-1211AA341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73DE52-0590-4C71-BDF9-7CD868E3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37CAEA-CEE1-44BF-9D1C-D7DCE707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3AF885-A4EE-4108-B6A8-1003CE85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3BD416-E732-4F35-8589-21716403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A78237-28B9-4800-B7AE-7196750C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874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1A587-B8D5-4B75-A4F7-D5F12D4D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5899B7-E93D-431E-9930-AD05E5B62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6ED5A8-C545-446A-82ED-AF494B25E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B391FA-5197-4DB8-B71C-B41813A52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A35EC7-F169-47F0-BB19-4D93CD70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00F85-7BE7-444A-B7B6-71F5B5E8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48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31965-854C-4759-AFCD-C46CAB413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A1E8E8-3A91-4AB3-90AC-8A8ED469B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6C67B2-3F32-419C-9104-085AA99F9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BAD0B0-A30E-47FB-B04A-B8422ED9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1243DD-A4C3-413E-A095-1172679A1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8C3A7-893D-4EE1-8F83-6F94FB47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5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86B92-7666-4732-A85D-2C9A7EF3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BADF29-254D-4DE3-A8AE-15B54C8B8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C9F872-C53B-40D7-8886-B252EC51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E70025-925B-4612-83A8-E86795A1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ACCC89-7C5F-40F7-BAF4-7111B600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77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241875-ECB8-4DB7-96F1-8B212C201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A4B461-AAF3-40AD-A006-0BAD32B48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789BAC-675E-4E7F-9307-A47D9082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CA31CE-1D76-4EAA-B390-B689FA01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866E80-517B-457D-90D0-8124D4DB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66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EB3DC8-850B-4F0E-AF87-A30992E0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CFE8F0-2E00-4E62-AF35-0090CA916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D78F25-378E-4731-AB4D-59A210E8C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C5EA1-4890-43E1-878F-299C4CDFDA39}" type="datetimeFigureOut">
              <a:rPr lang="ko-KR" altLang="en-US" smtClean="0"/>
              <a:t>2023-12-18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96AFA-E8DA-4954-809E-A56EF3D3D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DCC572-9BDF-40FC-9455-CD2AB2707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E01B4-EBDF-49CD-AE7D-BDB9FDF58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26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6CC4C-0E51-407F-9282-97F68316C21F}"/>
              </a:ext>
            </a:extLst>
          </p:cNvPr>
          <p:cNvSpPr txBox="1"/>
          <p:nvPr/>
        </p:nvSpPr>
        <p:spPr>
          <a:xfrm>
            <a:off x="4172919" y="4862268"/>
            <a:ext cx="3846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>
                <a:solidFill>
                  <a:schemeClr val="bg2"/>
                </a:solidFill>
                <a:latin typeface="+mj-ea"/>
                <a:ea typeface="+mj-ea"/>
              </a:rPr>
              <a:t>제품명</a:t>
            </a:r>
            <a:endParaRPr lang="en-US" altLang="ko-KR" sz="2000" b="1">
              <a:solidFill>
                <a:schemeClr val="bg2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>
                <a:latin typeface="+mj-ea"/>
                <a:ea typeface="+mj-ea"/>
              </a:rPr>
              <a:t>최종</a:t>
            </a:r>
            <a:r>
              <a:rPr lang="en-US" altLang="ko-KR" sz="2000" b="1">
                <a:latin typeface="+mj-ea"/>
                <a:ea typeface="+mj-ea"/>
              </a:rPr>
              <a:t> </a:t>
            </a:r>
            <a:r>
              <a:rPr lang="ko-KR" altLang="en-US" sz="2000" b="1" dirty="0">
                <a:latin typeface="+mj-ea"/>
                <a:ea typeface="+mj-ea"/>
              </a:rPr>
              <a:t>기획안</a:t>
            </a:r>
            <a:endParaRPr lang="en-US" altLang="ko-KR" sz="2000" b="1" dirty="0">
              <a:latin typeface="+mj-ea"/>
              <a:ea typeface="+mj-ea"/>
            </a:endParaRPr>
          </a:p>
        </p:txBody>
      </p:sp>
      <p:pic>
        <p:nvPicPr>
          <p:cNvPr id="1026" name="Picture 2" descr="\\192.168.0.64\0. 문서양식\#이삼오구문서양식\이삼오구 LOGO\2359_Bla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2132699"/>
            <a:ext cx="447675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16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CA0D478-029C-410C-8192-6A079B3B5B67}"/>
              </a:ext>
            </a:extLst>
          </p:cNvPr>
          <p:cNvSpPr/>
          <p:nvPr/>
        </p:nvSpPr>
        <p:spPr>
          <a:xfrm>
            <a:off x="1443202" y="248105"/>
            <a:ext cx="4580793" cy="6370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F8E4AE-6DF5-4109-AE0C-DA2BCF22645D}"/>
              </a:ext>
            </a:extLst>
          </p:cNvPr>
          <p:cNvSpPr/>
          <p:nvPr/>
        </p:nvSpPr>
        <p:spPr>
          <a:xfrm>
            <a:off x="6964564" y="846435"/>
            <a:ext cx="3600400" cy="40011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fontAlgn="base">
              <a:spcAft>
                <a:spcPts val="700"/>
              </a:spcAft>
            </a:pPr>
            <a:r>
              <a:rPr lang="ko-KR" altLang="en-US" sz="2000" b="1" dirty="0">
                <a:latin typeface="HoloLens MDL2 Assets" panose="050A0102010101010101" pitchFamily="18" charset="0"/>
                <a:ea typeface="HY견고딕" panose="02030600000101010101" pitchFamily="18" charset="-127"/>
              </a:rPr>
              <a:t>목차</a:t>
            </a:r>
            <a:endParaRPr lang="en-US" altLang="ko-KR" sz="2000" b="1" dirty="0">
              <a:latin typeface="HoloLens MDL2 Assets" panose="050A0102010101010101" pitchFamily="18" charset="0"/>
              <a:ea typeface="HY견고딕" panose="02030600000101010101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35AE39B-6077-4C59-9C9E-ABC30E251AB8}"/>
              </a:ext>
            </a:extLst>
          </p:cNvPr>
          <p:cNvCxnSpPr/>
          <p:nvPr/>
        </p:nvCxnSpPr>
        <p:spPr>
          <a:xfrm>
            <a:off x="6976924" y="813979"/>
            <a:ext cx="438487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62D7162-32E6-4BC6-9C6C-E36AC3198798}"/>
              </a:ext>
            </a:extLst>
          </p:cNvPr>
          <p:cNvCxnSpPr/>
          <p:nvPr/>
        </p:nvCxnSpPr>
        <p:spPr>
          <a:xfrm>
            <a:off x="6976924" y="1257495"/>
            <a:ext cx="438487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1627036" y="846435"/>
            <a:ext cx="2690964" cy="878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>
                    <a:alpha val="99000"/>
                  </a:schemeClr>
                </a:solidFill>
                <a:latin typeface="Calibri" pitchFamily="34" charset="0"/>
                <a:ea typeface="맑은 고딕" pitchFamily="50" charset="-127"/>
              </a:rPr>
              <a:t>XXX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bg1">
                    <a:alpha val="99000"/>
                  </a:schemeClr>
                </a:solidFill>
                <a:latin typeface="Calibri" pitchFamily="34" charset="0"/>
                <a:ea typeface="맑은 고딕" pitchFamily="50" charset="-127"/>
              </a:rPr>
              <a:t>최종 기획안</a:t>
            </a:r>
            <a:endParaRPr lang="en-US" altLang="ko-KR" b="1" dirty="0">
              <a:solidFill>
                <a:schemeClr val="bg1">
                  <a:alpha val="99000"/>
                </a:schemeClr>
              </a:solidFill>
              <a:latin typeface="Calibri" pitchFamily="34" charset="0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87C1C4-42F8-442D-843C-F1A1B848B449}"/>
              </a:ext>
            </a:extLst>
          </p:cNvPr>
          <p:cNvSpPr txBox="1"/>
          <p:nvPr/>
        </p:nvSpPr>
        <p:spPr>
          <a:xfrm>
            <a:off x="2897725" y="5032942"/>
            <a:ext cx="2840549" cy="100912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2800" b="0">
                <a:solidFill>
                  <a:srgbClr val="9ECD5B">
                    <a:alpha val="99000"/>
                  </a:srgbClr>
                </a:solidFill>
                <a:latin typeface="Helvetica75" panose="020B0800000000000000" pitchFamily="34" charset="0"/>
                <a:ea typeface="나눔바른고딕" panose="020B0603020101020101" pitchFamily="50" charset="-127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en-US" altLang="ko-KR" sz="2100" b="1" dirty="0">
                <a:solidFill>
                  <a:schemeClr val="bg1">
                    <a:alpha val="99000"/>
                  </a:schemeClr>
                </a:solidFill>
                <a:latin typeface="Calibri" pitchFamily="34" charset="0"/>
                <a:ea typeface="맑은 고딕" pitchFamily="50" charset="-127"/>
              </a:rPr>
              <a:t>2021.XX.XX</a:t>
            </a:r>
          </a:p>
          <a:p>
            <a:pPr algn="r">
              <a:lnSpc>
                <a:spcPct val="150000"/>
              </a:lnSpc>
            </a:pPr>
            <a:r>
              <a:rPr lang="ko-KR" altLang="en-US" sz="2100" b="1" dirty="0">
                <a:solidFill>
                  <a:schemeClr val="bg1">
                    <a:alpha val="99000"/>
                  </a:schemeClr>
                </a:solidFill>
                <a:latin typeface="Calibri" pitchFamily="34" charset="0"/>
                <a:ea typeface="맑은 고딕" pitchFamily="50" charset="-127"/>
              </a:rPr>
              <a:t>담당자 </a:t>
            </a:r>
            <a:r>
              <a:rPr lang="en-US" altLang="ko-KR" sz="2100" b="1" dirty="0">
                <a:solidFill>
                  <a:schemeClr val="bg1">
                    <a:alpha val="99000"/>
                  </a:schemeClr>
                </a:solidFill>
                <a:latin typeface="Calibri" pitchFamily="34" charset="0"/>
                <a:ea typeface="맑은 고딕" pitchFamily="50" charset="-127"/>
              </a:rPr>
              <a:t>: XXX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7964C0-3CC0-4BB8-A9A7-1DA91201CC94}"/>
              </a:ext>
            </a:extLst>
          </p:cNvPr>
          <p:cNvSpPr/>
          <p:nvPr/>
        </p:nvSpPr>
        <p:spPr>
          <a:xfrm>
            <a:off x="7162235" y="1878707"/>
            <a:ext cx="4045343" cy="385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제품 설명 및 컨셉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제품 상세 스팩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시장 및 경쟁사 조사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기획 의도 및 출시 당위성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타겟 고객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핵심 소구점 </a:t>
            </a:r>
            <a:r>
              <a:rPr lang="en-US" altLang="ko-KR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핵심 소구점 </a:t>
            </a:r>
            <a:r>
              <a:rPr lang="en-US" altLang="ko-KR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sub </a:t>
            </a: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소구점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컨텐츠 예시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참고자료</a:t>
            </a:r>
            <a:endParaRPr lang="en-US" altLang="ko-KR" sz="1500" b="1">
              <a:solidFill>
                <a:schemeClr val="tx1">
                  <a:alpha val="99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>
                <a:solidFill>
                  <a:schemeClr val="tx1">
                    <a:alpha val="99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기타 이슈 사항</a:t>
            </a:r>
            <a:endParaRPr lang="ko-KR" altLang="en-US" sz="1500" b="1" dirty="0">
              <a:solidFill>
                <a:schemeClr val="tx1">
                  <a:alpha val="99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909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9EC4005-AB4E-4B01-8534-030F51800F56}"/>
              </a:ext>
            </a:extLst>
          </p:cNvPr>
          <p:cNvSpPr txBox="1"/>
          <p:nvPr/>
        </p:nvSpPr>
        <p:spPr>
          <a:xfrm>
            <a:off x="701428" y="1104572"/>
            <a:ext cx="7919090" cy="515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/>
              <a:t>법인명 </a:t>
            </a:r>
            <a:r>
              <a:rPr lang="en-US" altLang="ko-KR" sz="1050"/>
              <a:t>: 	</a:t>
            </a:r>
          </a:p>
          <a:p>
            <a:pPr>
              <a:lnSpc>
                <a:spcPct val="150000"/>
              </a:lnSpc>
            </a:pPr>
            <a:r>
              <a:rPr lang="ko-KR" altLang="en-US" sz="1050"/>
              <a:t>브랜드명 </a:t>
            </a:r>
            <a:r>
              <a:rPr lang="en-US" altLang="ko-KR" sz="1050"/>
              <a:t>: </a:t>
            </a:r>
          </a:p>
          <a:p>
            <a:pPr>
              <a:lnSpc>
                <a:spcPct val="150000"/>
              </a:lnSpc>
            </a:pPr>
            <a:r>
              <a:rPr lang="ko-KR" altLang="en-US" sz="1050"/>
              <a:t>제품명</a:t>
            </a:r>
            <a:r>
              <a:rPr lang="en-US" altLang="ko-KR" sz="1050"/>
              <a:t>(</a:t>
            </a:r>
            <a:r>
              <a:rPr lang="ko-KR" altLang="en-US" sz="1050"/>
              <a:t>영문포함</a:t>
            </a:r>
            <a:r>
              <a:rPr lang="en-US" altLang="ko-KR" sz="1050"/>
              <a:t>)</a:t>
            </a:r>
            <a:r>
              <a:rPr lang="ko-KR" altLang="en-US" sz="1050"/>
              <a:t> </a:t>
            </a:r>
            <a:r>
              <a:rPr lang="en-US" altLang="ko-KR" sz="1050"/>
              <a:t>:</a:t>
            </a:r>
          </a:p>
          <a:p>
            <a:pPr>
              <a:lnSpc>
                <a:spcPct val="150000"/>
              </a:lnSpc>
            </a:pPr>
            <a:endParaRPr lang="en-US" altLang="ko-KR" sz="1050"/>
          </a:p>
          <a:p>
            <a:pPr>
              <a:lnSpc>
                <a:spcPct val="150000"/>
              </a:lnSpc>
            </a:pPr>
            <a:r>
              <a:rPr lang="ko-KR" altLang="en-US" sz="1050"/>
              <a:t>제품 설명 </a:t>
            </a:r>
            <a:r>
              <a:rPr lang="en-US" altLang="ko-KR" sz="1050"/>
              <a:t>(</a:t>
            </a:r>
            <a:r>
              <a:rPr lang="ko-KR" altLang="en-US" sz="1050"/>
              <a:t>컨셉</a:t>
            </a:r>
            <a:r>
              <a:rPr lang="en-US" altLang="ko-KR" sz="1050"/>
              <a:t>)</a:t>
            </a:r>
            <a:r>
              <a:rPr lang="ko-KR" altLang="en-US" sz="1050"/>
              <a:t> </a:t>
            </a:r>
            <a:r>
              <a:rPr lang="en-US" altLang="ko-KR" sz="1050"/>
              <a:t>: </a:t>
            </a:r>
          </a:p>
          <a:p>
            <a:pPr>
              <a:lnSpc>
                <a:spcPct val="150000"/>
              </a:lnSpc>
            </a:pPr>
            <a:endParaRPr lang="en-US" altLang="ko-KR" sz="1050"/>
          </a:p>
          <a:p>
            <a:pPr>
              <a:lnSpc>
                <a:spcPct val="150000"/>
              </a:lnSpc>
            </a:pPr>
            <a:endParaRPr lang="en-US" altLang="ko-KR" sz="1050"/>
          </a:p>
          <a:p>
            <a:pPr>
              <a:lnSpc>
                <a:spcPct val="150000"/>
              </a:lnSpc>
            </a:pPr>
            <a:r>
              <a:rPr lang="ko-KR" altLang="en-US" sz="1050"/>
              <a:t>핵심 소구점 </a:t>
            </a:r>
            <a:r>
              <a:rPr lang="en-US" altLang="ko-KR" sz="105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050"/>
              <a:t>1.</a:t>
            </a:r>
          </a:p>
          <a:p>
            <a:pPr>
              <a:lnSpc>
                <a:spcPct val="150000"/>
              </a:lnSpc>
            </a:pPr>
            <a:r>
              <a:rPr lang="en-US" altLang="ko-KR" sz="1050"/>
              <a:t>2.</a:t>
            </a:r>
          </a:p>
          <a:p>
            <a:pPr>
              <a:lnSpc>
                <a:spcPct val="150000"/>
              </a:lnSpc>
            </a:pPr>
            <a:r>
              <a:rPr lang="en-US" altLang="ko-KR" sz="1050"/>
              <a:t>3.</a:t>
            </a:r>
          </a:p>
          <a:p>
            <a:pPr>
              <a:lnSpc>
                <a:spcPct val="150000"/>
              </a:lnSpc>
            </a:pPr>
            <a:r>
              <a:rPr lang="en-US" altLang="ko-KR" sz="1050"/>
              <a:t>4.</a:t>
            </a:r>
          </a:p>
          <a:p>
            <a:pPr>
              <a:lnSpc>
                <a:spcPct val="150000"/>
              </a:lnSpc>
            </a:pPr>
            <a:endParaRPr lang="en-US" altLang="ko-KR" sz="1050"/>
          </a:p>
          <a:p>
            <a:pPr>
              <a:lnSpc>
                <a:spcPct val="150000"/>
              </a:lnSpc>
            </a:pPr>
            <a:r>
              <a:rPr lang="ko-KR" altLang="en-US" sz="1050"/>
              <a:t>핵심 성분</a:t>
            </a:r>
            <a:r>
              <a:rPr lang="en-US" altLang="ko-KR" sz="1050"/>
              <a:t> :</a:t>
            </a:r>
          </a:p>
          <a:p>
            <a:pPr>
              <a:lnSpc>
                <a:spcPct val="150000"/>
              </a:lnSpc>
            </a:pPr>
            <a:r>
              <a:rPr lang="en-US" altLang="ko-KR" sz="1050"/>
              <a:t>1.</a:t>
            </a:r>
          </a:p>
          <a:p>
            <a:pPr>
              <a:lnSpc>
                <a:spcPct val="150000"/>
              </a:lnSpc>
            </a:pPr>
            <a:r>
              <a:rPr lang="en-US" altLang="ko-KR" sz="1050"/>
              <a:t>2.</a:t>
            </a:r>
          </a:p>
          <a:p>
            <a:pPr>
              <a:lnSpc>
                <a:spcPct val="150000"/>
              </a:lnSpc>
            </a:pPr>
            <a:r>
              <a:rPr lang="en-US" altLang="ko-KR" sz="1050"/>
              <a:t>3.</a:t>
            </a:r>
          </a:p>
          <a:p>
            <a:pPr>
              <a:lnSpc>
                <a:spcPct val="150000"/>
              </a:lnSpc>
            </a:pPr>
            <a:r>
              <a:rPr lang="en-US" altLang="ko-KR" sz="1050"/>
              <a:t>4.</a:t>
            </a:r>
          </a:p>
          <a:p>
            <a:pPr>
              <a:lnSpc>
                <a:spcPct val="150000"/>
              </a:lnSpc>
            </a:pPr>
            <a:endParaRPr lang="en-US" altLang="ko-KR" sz="1050"/>
          </a:p>
          <a:p>
            <a:pPr>
              <a:lnSpc>
                <a:spcPct val="150000"/>
              </a:lnSpc>
            </a:pPr>
            <a:r>
              <a:rPr lang="ko-KR" altLang="en-US" sz="1050"/>
              <a:t>예상 런칭일 </a:t>
            </a:r>
            <a:r>
              <a:rPr lang="en-US" altLang="ko-KR" sz="1050"/>
              <a:t>: </a:t>
            </a:r>
          </a:p>
          <a:p>
            <a:pPr>
              <a:lnSpc>
                <a:spcPct val="150000"/>
              </a:lnSpc>
            </a:pPr>
            <a:r>
              <a:rPr lang="ko-KR" altLang="en-US" sz="1050"/>
              <a:t>용량 및 예상 판매가 </a:t>
            </a:r>
            <a:r>
              <a:rPr lang="en-US" altLang="ko-KR" sz="1050"/>
              <a:t>:</a:t>
            </a:r>
            <a:endParaRPr lang="ko-KR" altLang="en-US" sz="105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AB4350-48D9-76E8-9269-2B59F2674D5E}"/>
              </a:ext>
            </a:extLst>
          </p:cNvPr>
          <p:cNvSpPr/>
          <p:nvPr/>
        </p:nvSpPr>
        <p:spPr>
          <a:xfrm>
            <a:off x="701428" y="486477"/>
            <a:ext cx="2305799" cy="4000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ko-KR" altLang="en-US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rPr>
              <a:t>제품 상세 스펙</a:t>
            </a:r>
            <a:endParaRPr lang="en-US" altLang="ko-KR" sz="1400" b="1" dirty="0">
              <a:solidFill>
                <a:prstClr val="white">
                  <a:alpha val="99000"/>
                </a:prstClr>
              </a:solidFill>
              <a:latin typeface="Calibri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2B4BBA5-F399-AB8D-716D-9233760C8BE6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23" name="그룹 13">
              <a:extLst>
                <a:ext uri="{FF2B5EF4-FFF2-40B4-BE49-F238E27FC236}">
                  <a16:creationId xmlns:a16="http://schemas.microsoft.com/office/drawing/2014/main" id="{907194F2-D570-B477-0FCD-32A8127D49EF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5A0C3143-8F33-D6B3-CB3D-E8746166CB8D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직각 삼각형 25">
                <a:extLst>
                  <a:ext uri="{FF2B5EF4-FFF2-40B4-BE49-F238E27FC236}">
                    <a16:creationId xmlns:a16="http://schemas.microsoft.com/office/drawing/2014/main" id="{EDF59D00-3D13-F4C9-F219-E621CE1992D3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7" name="직각 삼각형 26">
                <a:extLst>
                  <a:ext uri="{FF2B5EF4-FFF2-40B4-BE49-F238E27FC236}">
                    <a16:creationId xmlns:a16="http://schemas.microsoft.com/office/drawing/2014/main" id="{E8E627C3-936F-8A3A-4BFB-F53869420415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CE2B4F1-ACF4-A811-F828-0932E9B731BC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제품 설명 및 컨셉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26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제품 상세 스펙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AB6529E6-44C8-4990-9354-89B81526B53C}"/>
              </a:ext>
            </a:extLst>
          </p:cNvPr>
          <p:cNvSpPr txBox="1">
            <a:spLocks/>
          </p:cNvSpPr>
          <p:nvPr/>
        </p:nvSpPr>
        <p:spPr>
          <a:xfrm>
            <a:off x="701428" y="1010002"/>
            <a:ext cx="1923019" cy="603000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제품 상세 스펙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6C756B2D-98A7-DB43-C29E-80E4953BFCD6}"/>
              </a:ext>
            </a:extLst>
          </p:cNvPr>
          <p:cNvSpPr txBox="1">
            <a:spLocks/>
          </p:cNvSpPr>
          <p:nvPr/>
        </p:nvSpPr>
        <p:spPr>
          <a:xfrm>
            <a:off x="701428" y="4347035"/>
            <a:ext cx="1923019" cy="2274481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 fontScale="92500" lnSpcReduction="10000"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사용 기간</a:t>
            </a:r>
            <a:endParaRPr lang="en-US" altLang="ko-KR" sz="1400" b="1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  <a:p>
            <a:pPr>
              <a:lnSpc>
                <a:spcPct val="170000"/>
              </a:lnSpc>
            </a:pPr>
            <a:endParaRPr lang="en-US" altLang="ko-KR" sz="1400" b="1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  <a:p>
            <a:pPr>
              <a:lnSpc>
                <a:spcPct val="170000"/>
              </a:lnSpc>
            </a:pP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타사</a:t>
            </a:r>
            <a:r>
              <a:rPr lang="en-US" altLang="ko-KR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A</a:t>
            </a:r>
          </a:p>
          <a:p>
            <a:pPr>
              <a:lnSpc>
                <a:spcPct val="170000"/>
              </a:lnSpc>
            </a:pP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타사</a:t>
            </a:r>
            <a:r>
              <a:rPr lang="en-US" altLang="ko-KR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B</a:t>
            </a:r>
          </a:p>
          <a:p>
            <a:pPr>
              <a:lnSpc>
                <a:spcPct val="170000"/>
              </a:lnSpc>
            </a:pP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타사</a:t>
            </a:r>
            <a:r>
              <a:rPr lang="en-US" altLang="ko-KR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C</a:t>
            </a:r>
          </a:p>
          <a:p>
            <a:pPr>
              <a:lnSpc>
                <a:spcPct val="170000"/>
              </a:lnSpc>
            </a:pPr>
            <a:endParaRPr lang="en-US" altLang="ko-KR" sz="1400" b="1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  <a:p>
            <a:pPr>
              <a:lnSpc>
                <a:spcPct val="170000"/>
              </a:lnSpc>
            </a:pP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자사 제품</a:t>
            </a:r>
            <a:endParaRPr lang="en-US" altLang="ko-KR" sz="1400" b="1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7BF028D3-6D34-3D7E-07E0-46E02D56358F}"/>
              </a:ext>
            </a:extLst>
          </p:cNvPr>
          <p:cNvSpPr txBox="1">
            <a:spLocks/>
          </p:cNvSpPr>
          <p:nvPr/>
        </p:nvSpPr>
        <p:spPr>
          <a:xfrm>
            <a:off x="5147190" y="4261310"/>
            <a:ext cx="1923019" cy="2274481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유통기한</a:t>
            </a:r>
            <a:endParaRPr lang="en-US" altLang="ko-KR" b="1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6792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시장 및 경쟁사 조사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C459FDD2-762D-F3C1-1A26-C7E1B1A10622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1994271" cy="507997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시장 조사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708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시장 및 경쟁사 조사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C459FDD2-762D-F3C1-1A26-C7E1B1A10622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1994271" cy="507997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키워드 조사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623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997D1CEC-EE0E-4AAF-A3A8-4F2DE442DC0C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1994271" cy="507997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경쟁사 조사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862AB87-1D0B-5BFE-6F75-11F834481ADD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17" name="그룹 13">
              <a:extLst>
                <a:ext uri="{FF2B5EF4-FFF2-40B4-BE49-F238E27FC236}">
                  <a16:creationId xmlns:a16="http://schemas.microsoft.com/office/drawing/2014/main" id="{736398D0-1513-89E0-271E-17B881AF2BF2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181836F8-1EF9-2AD7-FA5E-6CE38D72E2D0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직각 삼각형 19">
                <a:extLst>
                  <a:ext uri="{FF2B5EF4-FFF2-40B4-BE49-F238E27FC236}">
                    <a16:creationId xmlns:a16="http://schemas.microsoft.com/office/drawing/2014/main" id="{CC03CA78-CE9A-A224-EF32-3191932EC550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직각 삼각형 21">
                <a:extLst>
                  <a:ext uri="{FF2B5EF4-FFF2-40B4-BE49-F238E27FC236}">
                    <a16:creationId xmlns:a16="http://schemas.microsoft.com/office/drawing/2014/main" id="{B85CFE11-C8E5-5432-1124-42D27C9F0760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1EB8691-2505-5E78-EB8A-9B27F0E9871D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시장 및 경쟁사 조사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550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3267783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기획 의도 및 출시 당위성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817975F7-512D-9070-F754-7B493EE4AFED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1994271" cy="507997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기획의도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85B1FBC3-A044-751E-3505-A72A4A7EA906}"/>
              </a:ext>
            </a:extLst>
          </p:cNvPr>
          <p:cNvSpPr txBox="1">
            <a:spLocks/>
          </p:cNvSpPr>
          <p:nvPr/>
        </p:nvSpPr>
        <p:spPr>
          <a:xfrm>
            <a:off x="741003" y="3289178"/>
            <a:ext cx="2132620" cy="507997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출시 당위성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775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15198E6F-76CF-48C0-90FC-4D079CD9D43B}"/>
              </a:ext>
            </a:extLst>
          </p:cNvPr>
          <p:cNvSpPr txBox="1">
            <a:spLocks/>
          </p:cNvSpPr>
          <p:nvPr/>
        </p:nvSpPr>
        <p:spPr>
          <a:xfrm>
            <a:off x="676970" y="3801477"/>
            <a:ext cx="3004381" cy="400050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AA16EB1-367D-C898-C549-99E04F9F834E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25" name="그룹 13">
              <a:extLst>
                <a:ext uri="{FF2B5EF4-FFF2-40B4-BE49-F238E27FC236}">
                  <a16:creationId xmlns:a16="http://schemas.microsoft.com/office/drawing/2014/main" id="{2A99998B-3216-9124-1588-B4310A023A26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8680CA42-FBE1-43E6-9F53-FC5DA34534ED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직각 삼각형 27">
                <a:extLst>
                  <a:ext uri="{FF2B5EF4-FFF2-40B4-BE49-F238E27FC236}">
                    <a16:creationId xmlns:a16="http://schemas.microsoft.com/office/drawing/2014/main" id="{6572D5DF-3AEC-9C2A-7CB0-D5705E31B7EA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직각 삼각형 28">
                <a:extLst>
                  <a:ext uri="{FF2B5EF4-FFF2-40B4-BE49-F238E27FC236}">
                    <a16:creationId xmlns:a16="http://schemas.microsoft.com/office/drawing/2014/main" id="{649F81A2-F35C-C85B-A670-AC759588519F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638810C-77E3-FB86-28E4-83C49F839749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타겟 고객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9B7F818-B8CF-88E2-6DB9-CFACF5D51C31}"/>
              </a:ext>
            </a:extLst>
          </p:cNvPr>
          <p:cNvSpPr txBox="1"/>
          <p:nvPr/>
        </p:nvSpPr>
        <p:spPr>
          <a:xfrm>
            <a:off x="604791" y="2580989"/>
            <a:ext cx="990739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이런 분들께 추천합니다</a:t>
            </a:r>
            <a:r>
              <a:rPr lang="en-US" altLang="ko-KR" sz="1400" b="1" dirty="0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!(</a:t>
            </a:r>
            <a:r>
              <a:rPr lang="ko-KR" altLang="en-US" sz="1400" b="1" dirty="0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불편함</a:t>
            </a:r>
            <a:r>
              <a:rPr lang="en-US" altLang="ko-KR" sz="1400" b="1" dirty="0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, </a:t>
            </a:r>
            <a:r>
              <a:rPr lang="ko-KR" altLang="en-US" sz="1400" b="1" dirty="0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상황 등 구체화</a:t>
            </a:r>
            <a:r>
              <a:rPr lang="en-US" altLang="ko-KR" sz="1400" b="1" dirty="0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)</a:t>
            </a:r>
          </a:p>
          <a:p>
            <a:endParaRPr lang="en-US" altLang="ko-KR" dirty="0"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  <a:p>
            <a:r>
              <a:rPr lang="en-US" altLang="ko-KR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1.</a:t>
            </a:r>
          </a:p>
          <a:p>
            <a:endParaRPr lang="en-US" altLang="ko-KR"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  <a:p>
            <a:r>
              <a:rPr lang="en-US" altLang="ko-KR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2.</a:t>
            </a:r>
          </a:p>
          <a:p>
            <a:endParaRPr lang="en-US" altLang="ko-KR"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  <a:p>
            <a:r>
              <a:rPr lang="en-US" altLang="ko-KR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3.</a:t>
            </a:r>
          </a:p>
          <a:p>
            <a:endParaRPr lang="en-US" altLang="ko-KR"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  <a:p>
            <a:r>
              <a:rPr lang="en-US" altLang="ko-KR"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4.</a:t>
            </a:r>
            <a:endParaRPr lang="en-US" altLang="ko-KR" dirty="0"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id="{2431165D-C4E5-C7ED-AFC2-02429712BAE2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6791572" cy="603000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메인 타겟 고객</a:t>
            </a:r>
            <a:r>
              <a:rPr lang="en-US" altLang="ko-KR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(</a:t>
            </a:r>
            <a:r>
              <a:rPr lang="ko-KR" altLang="en-US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페르소나</a:t>
            </a:r>
            <a:r>
              <a:rPr lang="en-US" altLang="ko-KR" sz="1400" b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):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9697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제품 핵심 </a:t>
              </a:r>
              <a:r>
                <a:rPr lang="ko-KR" altLang="en-US" sz="1400" b="1" dirty="0" err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소구점</a:t>
              </a:r>
              <a:r>
                <a:rPr lang="en-US" altLang="ko-KR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-1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AB6529E6-44C8-4990-9354-89B81526B53C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1994271" cy="507997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제품 핵심 </a:t>
            </a:r>
            <a:r>
              <a:rPr lang="ko-KR" altLang="en-US" sz="1400" b="1" dirty="0" err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소구점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105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제품 핵심 </a:t>
              </a:r>
              <a:r>
                <a:rPr lang="ko-KR" altLang="en-US" sz="1400" b="1" dirty="0" err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소구점</a:t>
              </a:r>
              <a:r>
                <a:rPr lang="en-US" altLang="ko-KR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-2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AB6529E6-44C8-4990-9354-89B81526B53C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7921324" cy="1715486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제품 핵심 </a:t>
            </a:r>
            <a:r>
              <a:rPr lang="ko-KR" altLang="en-US" sz="1400" b="1" dirty="0" err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소구점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0549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제품 핵심 </a:t>
              </a:r>
              <a:r>
                <a:rPr lang="ko-KR" altLang="en-US" sz="1400" b="1" err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소구점</a:t>
              </a:r>
              <a:r>
                <a:rPr lang="en-US" altLang="ko-KR" sz="1400" b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-3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AB6529E6-44C8-4990-9354-89B81526B53C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7921324" cy="1715486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제품 핵심 </a:t>
            </a:r>
            <a:r>
              <a:rPr lang="ko-KR" altLang="en-US" sz="1400" b="1" dirty="0" err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소구점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2562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2757144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제품 </a:t>
              </a:r>
              <a:r>
                <a:rPr lang="en-US" altLang="ko-KR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Sub</a:t>
              </a:r>
              <a:r>
                <a:rPr lang="ko-KR" altLang="en-US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 </a:t>
              </a:r>
              <a:r>
                <a:rPr lang="ko-KR" altLang="en-US" sz="1400" b="1" dirty="0" err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소구점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AB6529E6-44C8-4990-9354-89B81526B53C}"/>
              </a:ext>
            </a:extLst>
          </p:cNvPr>
          <p:cNvSpPr txBox="1">
            <a:spLocks/>
          </p:cNvSpPr>
          <p:nvPr/>
        </p:nvSpPr>
        <p:spPr>
          <a:xfrm>
            <a:off x="701428" y="1142673"/>
            <a:ext cx="1923019" cy="603000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t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제품 </a:t>
            </a:r>
            <a:r>
              <a:rPr lang="en-US" altLang="ko-KR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Sub</a:t>
            </a:r>
            <a:r>
              <a:rPr lang="ko-KR" altLang="en-US" sz="1400" b="1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 </a:t>
            </a:r>
            <a:r>
              <a:rPr lang="ko-KR" altLang="en-US" sz="1400" b="1" dirty="0" err="1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rPr>
              <a:t>소구점</a:t>
            </a:r>
            <a:endParaRPr lang="en-US" altLang="ko-KR" sz="1400" b="1" dirty="0">
              <a:solidFill>
                <a:schemeClr val="tx1"/>
              </a:solidFill>
              <a:latin typeface="나눔스퀘어라운드OTF Regular" panose="020B0600000101010101" pitchFamily="34" charset="-127"/>
              <a:ea typeface="나눔스퀘어라운드OTF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0825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1781731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컨텐츠 예시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3524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1781731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참고 자료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0670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한쪽 모서리가 잘린 사각형 12">
            <a:extLst>
              <a:ext uri="{FF2B5EF4-FFF2-40B4-BE49-F238E27FC236}">
                <a16:creationId xmlns:a16="http://schemas.microsoft.com/office/drawing/2014/main" id="{9CFB2CCE-3935-47AD-9154-533DCFEDAF6A}"/>
              </a:ext>
            </a:extLst>
          </p:cNvPr>
          <p:cNvSpPr/>
          <p:nvPr/>
        </p:nvSpPr>
        <p:spPr>
          <a:xfrm>
            <a:off x="342900" y="704522"/>
            <a:ext cx="11531600" cy="6108854"/>
          </a:xfrm>
          <a:prstGeom prst="snip1Rect">
            <a:avLst>
              <a:gd name="adj" fmla="val 0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EC1E144-B20D-47A5-9A95-2372C73E379D}"/>
              </a:ext>
            </a:extLst>
          </p:cNvPr>
          <p:cNvGrpSpPr/>
          <p:nvPr/>
        </p:nvGrpSpPr>
        <p:grpSpPr>
          <a:xfrm>
            <a:off x="472944" y="486477"/>
            <a:ext cx="1781731" cy="400050"/>
            <a:chOff x="1361944" y="486477"/>
            <a:chExt cx="1781731" cy="400050"/>
          </a:xfrm>
          <a:solidFill>
            <a:schemeClr val="tx1"/>
          </a:solidFill>
        </p:grpSpPr>
        <p:grpSp>
          <p:nvGrpSpPr>
            <p:cNvPr id="6" name="그룹 13">
              <a:extLst>
                <a:ext uri="{FF2B5EF4-FFF2-40B4-BE49-F238E27FC236}">
                  <a16:creationId xmlns:a16="http://schemas.microsoft.com/office/drawing/2014/main" id="{0EA65E85-9A69-455B-8354-0901CD0AF29D}"/>
                </a:ext>
              </a:extLst>
            </p:cNvPr>
            <p:cNvGrpSpPr/>
            <p:nvPr/>
          </p:nvGrpSpPr>
          <p:grpSpPr>
            <a:xfrm>
              <a:off x="1361944" y="533875"/>
              <a:ext cx="1781731" cy="305254"/>
              <a:chOff x="348438" y="898087"/>
              <a:chExt cx="1939141" cy="324657"/>
            </a:xfrm>
            <a:grpFill/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E5B9C67-72D1-4FDA-B0C3-163ECBC15322}"/>
                  </a:ext>
                </a:extLst>
              </p:cNvPr>
              <p:cNvSpPr/>
              <p:nvPr/>
            </p:nvSpPr>
            <p:spPr>
              <a:xfrm>
                <a:off x="348441" y="898087"/>
                <a:ext cx="1939138" cy="32465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각 삼각형 8">
                <a:extLst>
                  <a:ext uri="{FF2B5EF4-FFF2-40B4-BE49-F238E27FC236}">
                    <a16:creationId xmlns:a16="http://schemas.microsoft.com/office/drawing/2014/main" id="{9FA50784-C9E3-4CB0-991E-D7C7606C8144}"/>
                  </a:ext>
                </a:extLst>
              </p:cNvPr>
              <p:cNvSpPr/>
              <p:nvPr/>
            </p:nvSpPr>
            <p:spPr>
              <a:xfrm>
                <a:off x="348438" y="904580"/>
                <a:ext cx="286990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각 삼각형 9">
                <a:extLst>
                  <a:ext uri="{FF2B5EF4-FFF2-40B4-BE49-F238E27FC236}">
                    <a16:creationId xmlns:a16="http://schemas.microsoft.com/office/drawing/2014/main" id="{1F1CE0EC-AB35-41BA-8C46-853D805FB2F1}"/>
                  </a:ext>
                </a:extLst>
              </p:cNvPr>
              <p:cNvSpPr/>
              <p:nvPr/>
            </p:nvSpPr>
            <p:spPr>
              <a:xfrm rot="10800000">
                <a:off x="2000587" y="904580"/>
                <a:ext cx="286992" cy="31816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84DE17-A763-49BD-9C4F-2413378D4D7E}"/>
                </a:ext>
              </a:extLst>
            </p:cNvPr>
            <p:cNvSpPr/>
            <p:nvPr/>
          </p:nvSpPr>
          <p:spPr>
            <a:xfrm>
              <a:off x="1509596" y="486477"/>
              <a:ext cx="1490061" cy="40005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400" b="1">
                  <a:solidFill>
                    <a:prstClr val="white">
                      <a:alpha val="99000"/>
                    </a:prstClr>
                  </a:solidFill>
                  <a:latin typeface="Calibri" pitchFamily="34" charset="0"/>
                </a:rPr>
                <a:t>기타 이슈</a:t>
              </a:r>
              <a:endParaRPr lang="en-US" altLang="ko-KR" sz="1400" b="1" dirty="0">
                <a:solidFill>
                  <a:prstClr val="white">
                    <a:alpha val="99000"/>
                  </a:prstClr>
                </a:solidFill>
                <a:latin typeface="Calibri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A5BE0A-2436-4191-BAB7-FFED347F538D}"/>
              </a:ext>
            </a:extLst>
          </p:cNvPr>
          <p:cNvGrpSpPr/>
          <p:nvPr/>
        </p:nvGrpSpPr>
        <p:grpSpPr>
          <a:xfrm>
            <a:off x="0" y="18149"/>
            <a:ext cx="12191999" cy="430227"/>
            <a:chOff x="0" y="18149"/>
            <a:chExt cx="12191999" cy="430227"/>
          </a:xfrm>
        </p:grpSpPr>
        <p:sp>
          <p:nvSpPr>
            <p:cNvPr id="12" name="모서리가 둥근 직사각형 9">
              <a:extLst>
                <a:ext uri="{FF2B5EF4-FFF2-40B4-BE49-F238E27FC236}">
                  <a16:creationId xmlns:a16="http://schemas.microsoft.com/office/drawing/2014/main" id="{3CDB94EB-13B0-464F-A83E-943AED5DC74F}"/>
                </a:ext>
              </a:extLst>
            </p:cNvPr>
            <p:cNvSpPr/>
            <p:nvPr/>
          </p:nvSpPr>
          <p:spPr>
            <a:xfrm>
              <a:off x="0" y="18149"/>
              <a:ext cx="12191999" cy="43022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spc="-300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0CB8B2-DEA3-41BA-A4FE-6ABAB93801B2}"/>
                </a:ext>
              </a:extLst>
            </p:cNvPr>
            <p:cNvSpPr/>
            <p:nvPr/>
          </p:nvSpPr>
          <p:spPr>
            <a:xfrm>
              <a:off x="342900" y="85128"/>
              <a:ext cx="116205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b="1" spc="-150" dirty="0">
                  <a:solidFill>
                    <a:schemeClr val="tx1">
                      <a:alpha val="99000"/>
                    </a:schemeClr>
                  </a:solidFill>
                </a:rPr>
                <a:t>㈜</a:t>
              </a:r>
              <a:r>
                <a:rPr lang="ko-KR" altLang="en-US" sz="1600" b="1" spc="-150" dirty="0" err="1">
                  <a:solidFill>
                    <a:schemeClr val="tx1">
                      <a:alpha val="99000"/>
                    </a:schemeClr>
                  </a:solidFill>
                </a:rPr>
                <a:t>이삼오구</a:t>
              </a:r>
              <a:endParaRPr lang="en-US" altLang="ko-KR" sz="1600" b="1" spc="-150" dirty="0">
                <a:solidFill>
                  <a:schemeClr val="tx1">
                    <a:alpha val="99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860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957</Words>
  <Application>Microsoft Office PowerPoint</Application>
  <PresentationFormat>와이드스크린</PresentationFormat>
  <Paragraphs>212</Paragraphs>
  <Slides>16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나눔스퀘어라운드OTF Light</vt:lpstr>
      <vt:lpstr>나눔스퀘어라운드OTF Regular</vt:lpstr>
      <vt:lpstr>맑은 고딕</vt:lpstr>
      <vt:lpstr>Arial</vt:lpstr>
      <vt:lpstr>Calibri</vt:lpstr>
      <vt:lpstr>HoloLens MDL2 Assets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jnc 3</dc:creator>
  <cp:lastModifiedBy>yoon do hwan</cp:lastModifiedBy>
  <cp:revision>26</cp:revision>
  <dcterms:created xsi:type="dcterms:W3CDTF">2021-06-15T03:51:40Z</dcterms:created>
  <dcterms:modified xsi:type="dcterms:W3CDTF">2023-12-18T02:33:35Z</dcterms:modified>
</cp:coreProperties>
</file>